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4" roundtripDataSignature="AMtx7mh2x27JxaGDsI0GOuF6WfsudQ0w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p:nvPr/>
        </p:nvSpPr>
        <p:spPr>
          <a:xfrm rot="5400000">
            <a:off x="7500300" y="505"/>
            <a:ext cx="1643700" cy="1643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14"/>
          <p:cNvGrpSpPr/>
          <p:nvPr/>
        </p:nvGrpSpPr>
        <p:grpSpPr>
          <a:xfrm>
            <a:off x="0" y="490"/>
            <a:ext cx="5153705" cy="5134399"/>
            <a:chOff x="0" y="75"/>
            <a:chExt cx="5153705" cy="5152950"/>
          </a:xfrm>
        </p:grpSpPr>
        <p:sp>
          <p:nvSpPr>
            <p:cNvPr id="12" name="Google Shape;12;p14"/>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4"/>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14"/>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7" name="Google Shape;17;p14"/>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8" name="Google Shape;1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15"/>
          <p:cNvGrpSpPr/>
          <p:nvPr/>
        </p:nvGrpSpPr>
        <p:grpSpPr>
          <a:xfrm>
            <a:off x="0" y="381001"/>
            <a:ext cx="1037850" cy="1016288"/>
            <a:chOff x="0" y="381001"/>
            <a:chExt cx="1037850" cy="1016288"/>
          </a:xfrm>
        </p:grpSpPr>
        <p:sp>
          <p:nvSpPr>
            <p:cNvPr id="21" name="Google Shape;21;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 name="Google Shape;24;p1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 name="Google Shape;2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grpSp>
        <p:nvGrpSpPr>
          <p:cNvPr id="27" name="Google Shape;27;p16"/>
          <p:cNvGrpSpPr/>
          <p:nvPr/>
        </p:nvGrpSpPr>
        <p:grpSpPr>
          <a:xfrm>
            <a:off x="4406400" y="0"/>
            <a:ext cx="4737600" cy="5143065"/>
            <a:chOff x="4406400" y="0"/>
            <a:chExt cx="4737600" cy="5143065"/>
          </a:xfrm>
        </p:grpSpPr>
        <p:sp>
          <p:nvSpPr>
            <p:cNvPr id="28" name="Google Shape;28;p16"/>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6"/>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6"/>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6"/>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6"/>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6"/>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6"/>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6"/>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6"/>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6"/>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6"/>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6"/>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6"/>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6"/>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6"/>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16"/>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17"/>
          <p:cNvGrpSpPr/>
          <p:nvPr/>
        </p:nvGrpSpPr>
        <p:grpSpPr>
          <a:xfrm>
            <a:off x="0" y="381001"/>
            <a:ext cx="1037850" cy="1016288"/>
            <a:chOff x="0" y="381001"/>
            <a:chExt cx="1037850" cy="1016288"/>
          </a:xfrm>
        </p:grpSpPr>
        <p:sp>
          <p:nvSpPr>
            <p:cNvPr id="50" name="Google Shape;50;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1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 name="Google Shape;53;p17"/>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17"/>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18"/>
          <p:cNvGrpSpPr/>
          <p:nvPr/>
        </p:nvGrpSpPr>
        <p:grpSpPr>
          <a:xfrm>
            <a:off x="0" y="381001"/>
            <a:ext cx="1037850" cy="1016288"/>
            <a:chOff x="0" y="381001"/>
            <a:chExt cx="1037850" cy="1016288"/>
          </a:xfrm>
        </p:grpSpPr>
        <p:sp>
          <p:nvSpPr>
            <p:cNvPr id="58" name="Google Shape;58;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p1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1" name="Google Shape;6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19"/>
          <p:cNvGrpSpPr/>
          <p:nvPr/>
        </p:nvGrpSpPr>
        <p:grpSpPr>
          <a:xfrm>
            <a:off x="0" y="381001"/>
            <a:ext cx="1037850" cy="1016288"/>
            <a:chOff x="0" y="381001"/>
            <a:chExt cx="1037850" cy="1016288"/>
          </a:xfrm>
        </p:grpSpPr>
        <p:sp>
          <p:nvSpPr>
            <p:cNvPr id="64" name="Google Shape;64;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19"/>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p19"/>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8" name="Google Shape;6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20"/>
          <p:cNvGrpSpPr/>
          <p:nvPr/>
        </p:nvGrpSpPr>
        <p:grpSpPr>
          <a:xfrm>
            <a:off x="4406400" y="0"/>
            <a:ext cx="4737600" cy="5143500"/>
            <a:chOff x="4406400" y="0"/>
            <a:chExt cx="4737600" cy="5143500"/>
          </a:xfrm>
        </p:grpSpPr>
        <p:sp>
          <p:nvSpPr>
            <p:cNvPr id="71" name="Google Shape;71;p20"/>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0"/>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0"/>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0"/>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0"/>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0"/>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0"/>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0"/>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0"/>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0"/>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0"/>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0"/>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0"/>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0"/>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0"/>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0"/>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 name="Google Shape;89;p20"/>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21"/>
          <p:cNvGrpSpPr/>
          <p:nvPr/>
        </p:nvGrpSpPr>
        <p:grpSpPr>
          <a:xfrm>
            <a:off x="0" y="381001"/>
            <a:ext cx="1037850" cy="1016288"/>
            <a:chOff x="0" y="381001"/>
            <a:chExt cx="1037850" cy="1016288"/>
          </a:xfrm>
        </p:grpSpPr>
        <p:sp>
          <p:nvSpPr>
            <p:cNvPr id="93" name="Google Shape;93;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21"/>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6" name="Google Shape;96;p21"/>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97" name="Google Shape;97;p21"/>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8" name="Google Shape;9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22"/>
          <p:cNvGrpSpPr/>
          <p:nvPr/>
        </p:nvGrpSpPr>
        <p:grpSpPr>
          <a:xfrm>
            <a:off x="0" y="4128572"/>
            <a:ext cx="698925" cy="684657"/>
            <a:chOff x="0" y="3785672"/>
            <a:chExt cx="698925" cy="684657"/>
          </a:xfrm>
        </p:grpSpPr>
        <p:sp>
          <p:nvSpPr>
            <p:cNvPr id="101" name="Google Shape;101;p22"/>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2"/>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22"/>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4" name="Google Shape;10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23"/>
          <p:cNvGrpSpPr/>
          <p:nvPr/>
        </p:nvGrpSpPr>
        <p:grpSpPr>
          <a:xfrm>
            <a:off x="4406400" y="0"/>
            <a:ext cx="4737600" cy="5143065"/>
            <a:chOff x="4406400" y="0"/>
            <a:chExt cx="4737600" cy="5143065"/>
          </a:xfrm>
        </p:grpSpPr>
        <p:sp>
          <p:nvSpPr>
            <p:cNvPr id="107" name="Google Shape;107;p23"/>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3"/>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3"/>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3"/>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3"/>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3"/>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3"/>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3"/>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3"/>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3"/>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3"/>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3"/>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3"/>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3"/>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3"/>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3"/>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 name="Google Shape;125;p23"/>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26" name="Google Shape;126;p23"/>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7" name="Google Shape;12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rPr lang="en-GB" sz="3600">
                <a:latin typeface="Arial"/>
                <a:ea typeface="Arial"/>
                <a:cs typeface="Arial"/>
                <a:sym typeface="Arial"/>
              </a:rPr>
              <a:t>BIG DATA LOGGING IN SPARK </a:t>
            </a:r>
            <a:endParaRPr sz="36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
          <p:cNvSpPr txBox="1"/>
          <p:nvPr>
            <p:ph type="title"/>
          </p:nvPr>
        </p:nvSpPr>
        <p:spPr>
          <a:xfrm>
            <a:off x="1525475" y="19110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Introduction</a:t>
            </a:r>
            <a:endParaRPr sz="3600">
              <a:latin typeface="Arial"/>
              <a:ea typeface="Arial"/>
              <a:cs typeface="Arial"/>
              <a:sym typeface="Arial"/>
            </a:endParaRPr>
          </a:p>
        </p:txBody>
      </p:sp>
      <p:sp>
        <p:nvSpPr>
          <p:cNvPr id="140" name="Google Shape;140;p2"/>
          <p:cNvSpPr txBox="1"/>
          <p:nvPr>
            <p:ph idx="1" type="body"/>
          </p:nvPr>
        </p:nvSpPr>
        <p:spPr>
          <a:xfrm>
            <a:off x="1297500" y="1402875"/>
            <a:ext cx="7038900" cy="2911200"/>
          </a:xfrm>
          <a:prstGeom prst="rect">
            <a:avLst/>
          </a:prstGeom>
          <a:noFill/>
          <a:ln>
            <a:noFill/>
          </a:ln>
        </p:spPr>
        <p:txBody>
          <a:bodyPr anchorCtr="0" anchor="t" bIns="91425" lIns="91425" spcFirstLastPara="1" rIns="91425" wrap="square" tIns="91425">
            <a:normAutofit fontScale="32500" lnSpcReduction="20000"/>
          </a:bodyPr>
          <a:lstStyle/>
          <a:p>
            <a:pPr indent="0" lvl="0" marL="0" rtl="0" algn="l">
              <a:lnSpc>
                <a:spcPct val="115000"/>
              </a:lnSpc>
              <a:spcBef>
                <a:spcPts val="0"/>
              </a:spcBef>
              <a:spcAft>
                <a:spcPts val="0"/>
              </a:spcAft>
              <a:buSzPct val="53333"/>
              <a:buNone/>
            </a:pPr>
            <a:r>
              <a:rPr lang="en-GB" sz="7500">
                <a:latin typeface="Arial"/>
                <a:ea typeface="Arial"/>
                <a:cs typeface="Arial"/>
                <a:sym typeface="Arial"/>
              </a:rPr>
              <a:t>Topics</a:t>
            </a:r>
            <a:endParaRPr sz="7500">
              <a:latin typeface="Arial"/>
              <a:ea typeface="Arial"/>
              <a:cs typeface="Arial"/>
              <a:sym typeface="Arial"/>
            </a:endParaRPr>
          </a:p>
          <a:p>
            <a:pPr indent="-329754" lvl="0" marL="457200" rtl="0" algn="l">
              <a:lnSpc>
                <a:spcPct val="115000"/>
              </a:lnSpc>
              <a:spcBef>
                <a:spcPts val="1200"/>
              </a:spcBef>
              <a:spcAft>
                <a:spcPts val="0"/>
              </a:spcAft>
              <a:buSzPct val="100000"/>
              <a:buFont typeface="Arial"/>
              <a:buChar char="●"/>
            </a:pPr>
            <a:r>
              <a:rPr lang="en-GB" sz="4900">
                <a:latin typeface="Arial"/>
                <a:ea typeface="Arial"/>
                <a:cs typeface="Arial"/>
                <a:sym typeface="Arial"/>
              </a:rPr>
              <a:t>What is Big Data?</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Logging in Big Data</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Log Management</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Big Data Logging in Data Log systems</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RaSQL role in Big Data Analytics</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Our Project Contributions</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System Installation and Working</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Examples for Big Data Log</a:t>
            </a:r>
            <a:endParaRPr sz="4900">
              <a:latin typeface="Arial"/>
              <a:ea typeface="Arial"/>
              <a:cs typeface="Arial"/>
              <a:sym typeface="Arial"/>
            </a:endParaRPr>
          </a:p>
          <a:p>
            <a:pPr indent="-329754" lvl="0" marL="457200" rtl="0" algn="l">
              <a:lnSpc>
                <a:spcPct val="115000"/>
              </a:lnSpc>
              <a:spcBef>
                <a:spcPts val="0"/>
              </a:spcBef>
              <a:spcAft>
                <a:spcPts val="0"/>
              </a:spcAft>
              <a:buSzPct val="100000"/>
              <a:buFont typeface="Arial"/>
              <a:buChar char="●"/>
            </a:pPr>
            <a:r>
              <a:rPr lang="en-GB" sz="4900">
                <a:latin typeface="Arial"/>
                <a:ea typeface="Arial"/>
                <a:cs typeface="Arial"/>
                <a:sym typeface="Arial"/>
              </a:rPr>
              <a:t>Examples for RaSQL</a:t>
            </a:r>
            <a:endParaRPr sz="49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What is Big data?</a:t>
            </a:r>
            <a:endParaRPr sz="3600">
              <a:latin typeface="Arial"/>
              <a:ea typeface="Arial"/>
              <a:cs typeface="Arial"/>
              <a:sym typeface="Arial"/>
            </a:endParaRPr>
          </a:p>
        </p:txBody>
      </p:sp>
      <p:sp>
        <p:nvSpPr>
          <p:cNvPr id="146" name="Google Shape;146;p3"/>
          <p:cNvSpPr txBox="1"/>
          <p:nvPr>
            <p:ph idx="1" type="body"/>
          </p:nvPr>
        </p:nvSpPr>
        <p:spPr>
          <a:xfrm>
            <a:off x="1297500" y="1567550"/>
            <a:ext cx="7038900" cy="29112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Font typeface="Arial"/>
              <a:buChar char="●"/>
            </a:pPr>
            <a:r>
              <a:rPr lang="en-GB" sz="2000">
                <a:latin typeface="Arial"/>
                <a:ea typeface="Arial"/>
                <a:cs typeface="Arial"/>
                <a:sym typeface="Arial"/>
              </a:rPr>
              <a:t>Big data is a global domain that provides approaches for analysis and extraction of information, or dealing with the data sets</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GB" sz="2000">
                <a:latin typeface="Arial"/>
                <a:ea typeface="Arial"/>
                <a:cs typeface="Arial"/>
                <a:sym typeface="Arial"/>
              </a:rPr>
              <a:t>These data sets cannot be dealt with by using traditional methodologies.</a:t>
            </a: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GB" sz="2000">
                <a:latin typeface="Arial"/>
                <a:ea typeface="Arial"/>
                <a:cs typeface="Arial"/>
                <a:sym typeface="Arial"/>
              </a:rPr>
              <a:t>Big data challenges mainly include data storage, data analysis, querying, updating, sharing etc.</a:t>
            </a:r>
            <a:endParaRPr sz="20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4"/>
          <p:cNvSpPr txBox="1"/>
          <p:nvPr>
            <p:ph type="title"/>
          </p:nvPr>
        </p:nvSpPr>
        <p:spPr>
          <a:xfrm>
            <a:off x="1297500" y="305075"/>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Logging in Big Data</a:t>
            </a:r>
            <a:endParaRPr sz="3600">
              <a:latin typeface="Arial"/>
              <a:ea typeface="Arial"/>
              <a:cs typeface="Arial"/>
              <a:sym typeface="Arial"/>
            </a:endParaRPr>
          </a:p>
        </p:txBody>
      </p:sp>
      <p:sp>
        <p:nvSpPr>
          <p:cNvPr id="152" name="Google Shape;152;p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Font typeface="Arial"/>
              <a:buChar char="●"/>
            </a:pPr>
            <a:r>
              <a:rPr lang="en-GB" sz="1900">
                <a:latin typeface="Arial"/>
                <a:ea typeface="Arial"/>
                <a:cs typeface="Arial"/>
                <a:sym typeface="Arial"/>
              </a:rPr>
              <a:t>Whether it's for operations, application management, or security, log data is usually the most extensive data accessible for analyzing the condition of business systems.</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en-GB" sz="1900">
                <a:latin typeface="Arial"/>
                <a:ea typeface="Arial"/>
                <a:cs typeface="Arial"/>
                <a:sym typeface="Arial"/>
              </a:rPr>
              <a:t>The best part is that log data is generated whether or not it is gathered. It is, after all, free data.</a:t>
            </a:r>
            <a:endParaRPr sz="1900">
              <a:latin typeface="Arial"/>
              <a:ea typeface="Arial"/>
              <a:cs typeface="Arial"/>
              <a:sym typeface="Arial"/>
            </a:endParaRPr>
          </a:p>
          <a:p>
            <a:pPr indent="-349250" lvl="0" marL="457200" rtl="0" algn="l">
              <a:lnSpc>
                <a:spcPct val="115000"/>
              </a:lnSpc>
              <a:spcBef>
                <a:spcPts val="0"/>
              </a:spcBef>
              <a:spcAft>
                <a:spcPts val="0"/>
              </a:spcAft>
              <a:buSzPts val="1900"/>
              <a:buFont typeface="Arial"/>
              <a:buChar char="●"/>
            </a:pPr>
            <a:r>
              <a:rPr lang="en-GB" sz="1900">
                <a:latin typeface="Arial"/>
                <a:ea typeface="Arial"/>
                <a:cs typeface="Arial"/>
                <a:sym typeface="Arial"/>
              </a:rPr>
              <a:t>The term velocity in this case is defined by the real-time, time-series nature of logs: logs arrive every second of every minute of every day. Analyzing logs is not a data warehousing effort; its primary value is its ability to provide information in real time.</a:t>
            </a:r>
            <a:endParaRPr sz="19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Log Management</a:t>
            </a:r>
            <a:endParaRPr sz="3600">
              <a:latin typeface="Arial"/>
              <a:ea typeface="Arial"/>
              <a:cs typeface="Arial"/>
              <a:sym typeface="Arial"/>
            </a:endParaRPr>
          </a:p>
        </p:txBody>
      </p:sp>
      <p:sp>
        <p:nvSpPr>
          <p:cNvPr id="158" name="Google Shape;158;p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The main issue with big data is its size, and its systematic growing nature of the data. In order to solve this problem, big data should definitely take advantage of the five V’s. </a:t>
            </a:r>
            <a:endParaRPr sz="1900">
              <a:latin typeface="Arial"/>
              <a:ea typeface="Arial"/>
              <a:cs typeface="Arial"/>
              <a:sym typeface="Arial"/>
            </a:endParaRPr>
          </a:p>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The five V’s include, Volume, Velocity, Veracity, Variety and Value. If the processing of big data is not done, it would lead to wastage of ample time and resources. </a:t>
            </a:r>
            <a:endParaRPr sz="1900">
              <a:latin typeface="Arial"/>
              <a:ea typeface="Arial"/>
              <a:cs typeface="Arial"/>
              <a:sym typeface="Arial"/>
            </a:endParaRPr>
          </a:p>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Moreover, big data only has a small window of time, before it becomes outdated, forcing it to start the analysis again</a:t>
            </a:r>
            <a:endParaRPr sz="1900">
              <a:latin typeface="Arial"/>
              <a:ea typeface="Arial"/>
              <a:cs typeface="Arial"/>
              <a:sym typeface="Arial"/>
            </a:endParaRPr>
          </a:p>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Log management is the process of overseeing and managing log files. It includes big data processing that can run into billions of log lines. </a:t>
            </a:r>
            <a:endParaRPr sz="19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6"/>
          <p:cNvSpPr txBox="1"/>
          <p:nvPr>
            <p:ph type="title"/>
          </p:nvPr>
        </p:nvSpPr>
        <p:spPr>
          <a:xfrm>
            <a:off x="1297500" y="14047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Big data Logging in Data log systems</a:t>
            </a:r>
            <a:endParaRPr sz="3600">
              <a:latin typeface="Arial"/>
              <a:ea typeface="Arial"/>
              <a:cs typeface="Arial"/>
              <a:sym typeface="Arial"/>
            </a:endParaRPr>
          </a:p>
        </p:txBody>
      </p:sp>
      <p:sp>
        <p:nvSpPr>
          <p:cNvPr id="164" name="Google Shape;164;p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342900" lvl="0" marL="457200" rtl="0" algn="l">
              <a:lnSpc>
                <a:spcPct val="95000"/>
              </a:lnSpc>
              <a:spcBef>
                <a:spcPts val="0"/>
              </a:spcBef>
              <a:spcAft>
                <a:spcPts val="0"/>
              </a:spcAft>
              <a:buSzPts val="1800"/>
              <a:buFont typeface="Arial"/>
              <a:buChar char="●"/>
            </a:pPr>
            <a:r>
              <a:rPr lang="en-GB" sz="1800">
                <a:latin typeface="Arial"/>
                <a:ea typeface="Arial"/>
                <a:cs typeface="Arial"/>
                <a:sym typeface="Arial"/>
              </a:rPr>
              <a:t>Creating effective complex analytics in Spark , RaSql, DeALS, or any datalog systems requires a thorough understanding of both the algorithm,subsystem APIs (e.g., Spark SQL, GraphX)</a:t>
            </a:r>
            <a:endParaRPr sz="1800">
              <a:latin typeface="Arial"/>
              <a:ea typeface="Arial"/>
              <a:cs typeface="Arial"/>
              <a:sym typeface="Arial"/>
            </a:endParaRPr>
          </a:p>
          <a:p>
            <a:pPr indent="-342900" lvl="0" marL="457200" rtl="0" algn="l">
              <a:lnSpc>
                <a:spcPct val="95000"/>
              </a:lnSpc>
              <a:spcBef>
                <a:spcPts val="0"/>
              </a:spcBef>
              <a:spcAft>
                <a:spcPts val="0"/>
              </a:spcAft>
              <a:buSzPts val="1800"/>
              <a:buFont typeface="Arial"/>
              <a:buChar char="●"/>
            </a:pPr>
            <a:r>
              <a:rPr lang="en-GB" sz="1800">
                <a:latin typeface="Arial"/>
                <a:ea typeface="Arial"/>
                <a:cs typeface="Arial"/>
                <a:sym typeface="Arial"/>
              </a:rPr>
              <a:t>BigDatalog solves the problem by allowing for concise declarative expression of complex queries that can be evaluated quickly. </a:t>
            </a:r>
            <a:endParaRPr sz="1800">
              <a:latin typeface="Arial"/>
              <a:ea typeface="Arial"/>
              <a:cs typeface="Arial"/>
              <a:sym typeface="Arial"/>
            </a:endParaRPr>
          </a:p>
          <a:p>
            <a:pPr indent="-342900" lvl="0" marL="457200" rtl="0" algn="l">
              <a:lnSpc>
                <a:spcPct val="95000"/>
              </a:lnSpc>
              <a:spcBef>
                <a:spcPts val="0"/>
              </a:spcBef>
              <a:spcAft>
                <a:spcPts val="0"/>
              </a:spcAft>
              <a:buSzPts val="1800"/>
              <a:buFont typeface="Arial"/>
              <a:buChar char="●"/>
            </a:pPr>
            <a:r>
              <a:rPr lang="en-GB" sz="1800">
                <a:latin typeface="Arial"/>
                <a:ea typeface="Arial"/>
                <a:cs typeface="Arial"/>
                <a:sym typeface="Arial"/>
              </a:rPr>
              <a:t>BigDatalog uses approaches to find and evaluate decomposable recursive programs that can be evaluated without communication, resulting in efficient distributed evaluations.</a:t>
            </a:r>
            <a:endParaRPr sz="1800">
              <a:latin typeface="Arial"/>
              <a:ea typeface="Arial"/>
              <a:cs typeface="Arial"/>
              <a:sym typeface="Arial"/>
            </a:endParaRPr>
          </a:p>
          <a:p>
            <a:pPr indent="-342900" lvl="0" marL="457200" rtl="0" algn="l">
              <a:lnSpc>
                <a:spcPct val="95000"/>
              </a:lnSpc>
              <a:spcBef>
                <a:spcPts val="0"/>
              </a:spcBef>
              <a:spcAft>
                <a:spcPts val="0"/>
              </a:spcAft>
              <a:buSzPts val="1800"/>
              <a:buFont typeface="Arial"/>
              <a:buChar char="●"/>
            </a:pPr>
            <a:r>
              <a:rPr lang="en-GB" sz="1800">
                <a:latin typeface="Arial"/>
                <a:ea typeface="Arial"/>
                <a:cs typeface="Arial"/>
                <a:sym typeface="Arial"/>
              </a:rPr>
              <a:t> Moreover, Especially in Spark, BigDatalog both benefits from and is limited by Spark’s generality and overall system design principles.</a:t>
            </a:r>
            <a:endParaRPr sz="18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RaSQL role in Big Data Analytics</a:t>
            </a:r>
            <a:endParaRPr sz="3600">
              <a:latin typeface="Arial"/>
              <a:ea typeface="Arial"/>
              <a:cs typeface="Arial"/>
              <a:sym typeface="Arial"/>
            </a:endParaRPr>
          </a:p>
        </p:txBody>
      </p:sp>
      <p:sp>
        <p:nvSpPr>
          <p:cNvPr id="170" name="Google Shape;170;p7"/>
          <p:cNvSpPr txBox="1"/>
          <p:nvPr>
            <p:ph idx="1" type="body"/>
          </p:nvPr>
        </p:nvSpPr>
        <p:spPr>
          <a:xfrm>
            <a:off x="1297500" y="1567550"/>
            <a:ext cx="7038900" cy="2911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The RaSQL language extends the existing SQL standard by enabling the use of aggregates such as min, max, count, and sum in the Common Table Expression (CTE), which is used to represent recursive queries in the current standard.</a:t>
            </a:r>
            <a:endParaRPr sz="1900">
              <a:latin typeface="Arial"/>
              <a:ea typeface="Arial"/>
              <a:cs typeface="Arial"/>
              <a:sym typeface="Arial"/>
            </a:endParaRPr>
          </a:p>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This is a forked repository of Big Datalog.</a:t>
            </a:r>
            <a:endParaRPr sz="1900">
              <a:latin typeface="Arial"/>
              <a:ea typeface="Arial"/>
              <a:cs typeface="Arial"/>
              <a:sym typeface="Arial"/>
            </a:endParaRPr>
          </a:p>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RaSQL is a system that is especially useful for graph algorithms and data mining.</a:t>
            </a:r>
            <a:endParaRPr sz="1900">
              <a:latin typeface="Arial"/>
              <a:ea typeface="Arial"/>
              <a:cs typeface="Arial"/>
              <a:sym typeface="Arial"/>
            </a:endParaRPr>
          </a:p>
          <a:p>
            <a:pPr indent="-349250" lvl="0" marL="457200" rtl="0" algn="l">
              <a:lnSpc>
                <a:spcPct val="95000"/>
              </a:lnSpc>
              <a:spcBef>
                <a:spcPts val="0"/>
              </a:spcBef>
              <a:spcAft>
                <a:spcPts val="0"/>
              </a:spcAft>
              <a:buSzPts val="1900"/>
              <a:buFont typeface="Arial"/>
              <a:buChar char="●"/>
            </a:pPr>
            <a:r>
              <a:rPr lang="en-GB" sz="1900">
                <a:latin typeface="Arial"/>
                <a:ea typeface="Arial"/>
                <a:cs typeface="Arial"/>
                <a:sym typeface="Arial"/>
              </a:rPr>
              <a:t>It executes complex queries and declarative algorithms in many application</a:t>
            </a:r>
            <a:endParaRPr sz="18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Our Project Contributions</a:t>
            </a:r>
            <a:endParaRPr sz="3600">
              <a:latin typeface="Arial"/>
              <a:ea typeface="Arial"/>
              <a:cs typeface="Arial"/>
              <a:sym typeface="Arial"/>
            </a:endParaRPr>
          </a:p>
        </p:txBody>
      </p:sp>
      <p:sp>
        <p:nvSpPr>
          <p:cNvPr id="176" name="Google Shape;176;p8"/>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Arial"/>
              <a:buChar char="●"/>
            </a:pPr>
            <a:r>
              <a:rPr lang="en-GB" sz="1800">
                <a:latin typeface="Arial"/>
                <a:ea typeface="Arial"/>
                <a:cs typeface="Arial"/>
                <a:sym typeface="Arial"/>
              </a:rPr>
              <a:t>We present BigDatalog, on Apache Spark. Using our system Spark programmers can now benefit from using a declarative, recursive language to implement their distributed algorithms, while maintaining the efficiency of highly optimized programs. </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lang="en-GB" sz="1800">
                <a:latin typeface="Arial"/>
                <a:ea typeface="Arial"/>
                <a:cs typeface="Arial"/>
                <a:sym typeface="Arial"/>
              </a:rPr>
              <a:t>We design and implement the Big Datalog examples and show how Big Datalog programs are compiled into recursive physical plans for Spark.</a:t>
            </a:r>
            <a:endParaRPr sz="1800">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lang="en-GB" sz="1800">
                <a:latin typeface="Arial"/>
                <a:ea typeface="Arial"/>
                <a:cs typeface="Arial"/>
                <a:sym typeface="Arial"/>
              </a:rPr>
              <a:t>Also, as a scenario for the demo, we plan to showcase both the examples from Big Datalog and RaSQL reproduction projects.</a:t>
            </a:r>
            <a:endParaRPr sz="18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txBox="1"/>
          <p:nvPr>
            <p:ph type="title"/>
          </p:nvPr>
        </p:nvSpPr>
        <p:spPr>
          <a:xfrm>
            <a:off x="1322825" y="2544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GB" sz="3600">
                <a:latin typeface="Arial"/>
                <a:ea typeface="Arial"/>
                <a:cs typeface="Arial"/>
                <a:sym typeface="Arial"/>
              </a:rPr>
              <a:t>System Installation and Working </a:t>
            </a:r>
            <a:endParaRPr sz="3600">
              <a:latin typeface="Arial"/>
              <a:ea typeface="Arial"/>
              <a:cs typeface="Arial"/>
              <a:sym typeface="Arial"/>
            </a:endParaRPr>
          </a:p>
        </p:txBody>
      </p:sp>
      <p:sp>
        <p:nvSpPr>
          <p:cNvPr id="182" name="Google Shape;182;p9"/>
          <p:cNvSpPr txBox="1"/>
          <p:nvPr>
            <p:ph idx="1" type="body"/>
          </p:nvPr>
        </p:nvSpPr>
        <p:spPr>
          <a:xfrm>
            <a:off x="1196200" y="1116150"/>
            <a:ext cx="7038900" cy="29112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Arial"/>
              <a:buChar char="●"/>
            </a:pPr>
            <a:r>
              <a:rPr lang="en-GB" sz="1400">
                <a:latin typeface="Arial"/>
                <a:ea typeface="Arial"/>
                <a:cs typeface="Arial"/>
                <a:sym typeface="Arial"/>
              </a:rPr>
              <a:t> </a:t>
            </a:r>
            <a:r>
              <a:rPr lang="en-GB" sz="1600">
                <a:latin typeface="Arial"/>
                <a:ea typeface="Arial"/>
                <a:cs typeface="Arial"/>
                <a:sym typeface="Arial"/>
              </a:rPr>
              <a:t>First we run this code: $ build/mvn install:install-file -Dfile=datalog/lib/DeALS-0.6.jar -DgroupId=DeALS -DartifactId=DeALS -Dversion=0.6 -Dpackaging=jar</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GB" sz="1600">
                <a:latin typeface="Arial"/>
                <a:ea typeface="Arial"/>
                <a:cs typeface="Arial"/>
                <a:sym typeface="Arial"/>
              </a:rPr>
              <a:t>Then, we build spark with mvm, we do the steps on this page: http://spark.apache.org/docs/ 1.6.1/building-spark.html</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GB" sz="1600">
                <a:latin typeface="Arial"/>
                <a:ea typeface="Arial"/>
                <a:cs typeface="Arial"/>
                <a:sym typeface="Arial"/>
              </a:rPr>
              <a:t>For Big data log, we follow the same installation procedure as done for spark, but install $ build/mvn install:install-file -Dfile=datalog/lib/DeALS-0.6.jar -DgroupId=DeALS -DartifactId=DeALS -Dversion=0.6 -Dpackaging=jar</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GB" sz="1600">
                <a:latin typeface="Arial"/>
                <a:ea typeface="Arial"/>
                <a:cs typeface="Arial"/>
                <a:sym typeface="Arial"/>
              </a:rPr>
              <a:t>For RaSQL too we run this command: $ build/mvn install:install-file -Dfile=datalog/lib/ DeALS-0.6.jar -DgroupId=DeALS -DartifactId=DeALS -Dversion=0.6 -Dpackaging=jar 4- then we follow the spark build process again.</a:t>
            </a:r>
            <a:endParaRPr sz="16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12"/>
          <p:cNvPicPr preferRelativeResize="0"/>
          <p:nvPr/>
        </p:nvPicPr>
        <p:blipFill rotWithShape="1">
          <a:blip r:embed="rId3">
            <a:alphaModFix/>
          </a:blip>
          <a:srcRect b="0" l="0" r="0" t="0"/>
          <a:stretch/>
        </p:blipFill>
        <p:spPr>
          <a:xfrm>
            <a:off x="1291800" y="443275"/>
            <a:ext cx="6978325" cy="4242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